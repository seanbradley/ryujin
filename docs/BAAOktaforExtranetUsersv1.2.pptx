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61" r:id="rId6"/>
    <p:sldId id="257" r:id="rId7"/>
    <p:sldId id="262" r:id="rId8"/>
    <p:sldId id="258" r:id="rId9"/>
    <p:sldId id="263" r:id="rId10"/>
    <p:sldId id="260" r:id="rId11"/>
    <p:sldId id="264" r:id="rId1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74AA"/>
    <a:srgbClr val="CDE6F7"/>
    <a:srgbClr val="F9E075"/>
    <a:srgbClr val="E8D4C5"/>
    <a:srgbClr val="00AFF0"/>
    <a:srgbClr val="F5FAFC"/>
    <a:srgbClr val="FFFF00"/>
    <a:srgbClr val="DCF2FA"/>
    <a:srgbClr val="BFE9F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6" autoAdjust="0"/>
    <p:restoredTop sz="94629" autoAdjust="0"/>
  </p:normalViewPr>
  <p:slideViewPr>
    <p:cSldViewPr>
      <p:cViewPr>
        <p:scale>
          <a:sx n="114" d="100"/>
          <a:sy n="114" d="100"/>
        </p:scale>
        <p:origin x="499" y="-2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269EE-023E-40CC-93AC-F5A48BF74847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58350-4452-4DE8-884A-72997EBDDF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755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58350-4452-4DE8-884A-72997EBDDF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526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58350-4452-4DE8-884A-72997EBDDF0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187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58350-4452-4DE8-884A-72997EBDDF0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230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58350-4452-4DE8-884A-72997EBDDF0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59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58350-4452-4DE8-884A-72997EBDDF0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786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58350-4452-4DE8-884A-72997EBDDF0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45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845C6-AFD8-462C-BB08-892BD8EA3B95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30A9-0122-41AF-8F6B-B874FA7303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713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845C6-AFD8-462C-BB08-892BD8EA3B95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30A9-0122-41AF-8F6B-B874FA7303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92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845C6-AFD8-462C-BB08-892BD8EA3B95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30A9-0122-41AF-8F6B-B874FA7303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29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845C6-AFD8-462C-BB08-892BD8EA3B95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30A9-0122-41AF-8F6B-B874FA7303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65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845C6-AFD8-462C-BB08-892BD8EA3B95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30A9-0122-41AF-8F6B-B874FA7303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17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845C6-AFD8-462C-BB08-892BD8EA3B95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30A9-0122-41AF-8F6B-B874FA7303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31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845C6-AFD8-462C-BB08-892BD8EA3B95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30A9-0122-41AF-8F6B-B874FA7303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28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845C6-AFD8-462C-BB08-892BD8EA3B95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30A9-0122-41AF-8F6B-B874FA7303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80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845C6-AFD8-462C-BB08-892BD8EA3B95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30A9-0122-41AF-8F6B-B874FA7303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0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845C6-AFD8-462C-BB08-892BD8EA3B95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30A9-0122-41AF-8F6B-B874FA7303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055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845C6-AFD8-462C-BB08-892BD8EA3B95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30A9-0122-41AF-8F6B-B874FA7303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20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845C6-AFD8-462C-BB08-892BD8EA3B95}" type="datetimeFigureOut">
              <a:rPr lang="en-US" smtClean="0"/>
              <a:t>8/6/2021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130A9-0122-41AF-8F6B-B874FA7303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25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6354909" y="838200"/>
            <a:ext cx="2644222" cy="2422392"/>
            <a:chOff x="6329050" y="244608"/>
            <a:chExt cx="2644222" cy="242239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9050" y="244608"/>
              <a:ext cx="2644222" cy="2422392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21" name="Oval 20"/>
            <p:cNvSpPr/>
            <p:nvPr/>
          </p:nvSpPr>
          <p:spPr>
            <a:xfrm>
              <a:off x="7010400" y="1600200"/>
              <a:ext cx="1197944" cy="3810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333783" y="4160860"/>
            <a:ext cx="2665348" cy="2468540"/>
            <a:chOff x="6355794" y="3289830"/>
            <a:chExt cx="2665348" cy="246854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5794" y="3289830"/>
              <a:ext cx="2665348" cy="2468540"/>
            </a:xfrm>
            <a:prstGeom prst="rect">
              <a:avLst/>
            </a:prstGeom>
          </p:spPr>
        </p:pic>
        <p:sp>
          <p:nvSpPr>
            <p:cNvPr id="22" name="Oval 21"/>
            <p:cNvSpPr/>
            <p:nvPr/>
          </p:nvSpPr>
          <p:spPr>
            <a:xfrm>
              <a:off x="8153400" y="5029200"/>
              <a:ext cx="684270" cy="215838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/>
            <p:cNvSpPr/>
            <p:nvPr/>
          </p:nvSpPr>
          <p:spPr>
            <a:xfrm>
              <a:off x="6619506" y="4145255"/>
              <a:ext cx="989070" cy="248234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/>
            <p:cNvSpPr/>
            <p:nvPr/>
          </p:nvSpPr>
          <p:spPr>
            <a:xfrm>
              <a:off x="6577977" y="3505200"/>
              <a:ext cx="989070" cy="248234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/>
            <p:cNvSpPr/>
            <p:nvPr/>
          </p:nvSpPr>
          <p:spPr>
            <a:xfrm>
              <a:off x="6668265" y="5207953"/>
              <a:ext cx="684270" cy="215838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Skype for Business Quick Start Guide—Audio Setup and Making Calls—pages 1 and 4</a:t>
            </a:r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Pages 1 and 4</a:t>
            </a:r>
          </a:p>
        </p:txBody>
      </p:sp>
      <p:cxnSp>
        <p:nvCxnSpPr>
          <p:cNvPr id="14" name="Straight Connector 13" descr="&quot;&quot;" title="&quot;&quot;"/>
          <p:cNvCxnSpPr/>
          <p:nvPr/>
        </p:nvCxnSpPr>
        <p:spPr>
          <a:xfrm>
            <a:off x="3372" y="8935"/>
            <a:ext cx="0" cy="67056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 descr="&quot;&quot;" title="&quot;&quot;"/>
          <p:cNvSpPr/>
          <p:nvPr/>
        </p:nvSpPr>
        <p:spPr>
          <a:xfrm>
            <a:off x="1617" y="-7009"/>
            <a:ext cx="4648200" cy="744218"/>
          </a:xfrm>
          <a:prstGeom prst="rect">
            <a:avLst/>
          </a:prstGeom>
          <a:solidFill>
            <a:srgbClr val="087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Subtitle 2"/>
          <p:cNvSpPr txBox="1">
            <a:spLocks/>
          </p:cNvSpPr>
          <p:nvPr/>
        </p:nvSpPr>
        <p:spPr>
          <a:xfrm>
            <a:off x="48263" y="11551"/>
            <a:ext cx="4554908" cy="904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BAA </a:t>
            </a: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and your DARPA Extranet Account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098" y="838200"/>
            <a:ext cx="4405739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DARPA is migrating </a:t>
            </a:r>
            <a:r>
              <a:rPr lang="en-US" sz="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BAA 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to OKTA for account authentication.  When your account is migrated to Okta you will receive a “Welcome to Okta” email with a link to set up your Okta account.  To activate your account you must use the link in that Email. The initial activation takes place at login.darpa.mil/darpa.okta.com.</a:t>
            </a:r>
          </a:p>
          <a:p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In addition to being where you will activate your DARPA extranet account, login.darpa.mil/darpa.okta.com is a home page where you can see a list of your DARPA Extranet applications.  You will be able to access </a:t>
            </a:r>
            <a:r>
              <a:rPr lang="en-US" sz="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BAA 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from login.darpa.mil/darpa.okta.com or directly at </a:t>
            </a:r>
            <a:r>
              <a:rPr lang="en-US" sz="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BAA.darpa.mil 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after you activate your account.</a:t>
            </a:r>
          </a:p>
          <a:p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DARPA Extranet account customers must log in using a username, password, and multi-factor authentication (MFA). DARPA supports two MFA options: Okta Verify and Email Authentication.  </a:t>
            </a:r>
          </a:p>
          <a:p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Please download the Okta Verify App from the Apple App or Google Play stores.  You must have an active Apple App Store or Google Play account to download the app.</a:t>
            </a:r>
          </a:p>
          <a:p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b="1" dirty="0">
                <a:latin typeface="Segoe UI" panose="020B0502040204020203" pitchFamily="34" charset="0"/>
                <a:cs typeface="Segoe UI" panose="020B0502040204020203" pitchFamily="34" charset="0"/>
              </a:rPr>
              <a:t>Note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:  DARPA Extranet customers must setup both Okta Verify and Email Verification initially.  When accessing </a:t>
            </a:r>
            <a:r>
              <a:rPr lang="en-US" sz="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BAA.darpa.mil 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or 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Login.darpa.mil, DARPA Extranet customers are required to use either Okta Verify or Email Authentication as the second Multi-factor Authentication (MFA).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1956" y="3667908"/>
            <a:ext cx="238777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Download Okta Verify</a:t>
            </a:r>
            <a:endParaRPr lang="en-US" sz="8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1.  Using your smart phone, search and download the </a:t>
            </a:r>
            <a:r>
              <a:rPr lang="en-US" sz="8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Okta Verity 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app from the Apple App or Google Play store. 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Note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: 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You must have an active Apple App store or Google Play account to download the app.</a:t>
            </a: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1" name="Straight Connector 30" descr="&quot;&quot;" title="&quot;&quot;"/>
          <p:cNvCxnSpPr/>
          <p:nvPr/>
        </p:nvCxnSpPr>
        <p:spPr>
          <a:xfrm>
            <a:off x="4644172" y="75859"/>
            <a:ext cx="0" cy="67056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44784" y="76381"/>
            <a:ext cx="43230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Activate Your DARPA Extranet Account at Login.darpa.mil/darpa.okta.com 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You will  receive an email with the subject, "Welcome to Okta!". The email will provide a link to Activate your Okta Account and your username. </a:t>
            </a:r>
            <a:b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666022" y="3484083"/>
            <a:ext cx="4401778" cy="38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External users will enter a new password, choose or create a “forgot password question”, and choose a security picture to setup their account.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544955" y="3947198"/>
            <a:ext cx="1631273" cy="2682635"/>
            <a:chOff x="2544955" y="3947198"/>
            <a:chExt cx="1631273" cy="268263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3200" y="3947198"/>
              <a:ext cx="1239520" cy="2682635"/>
            </a:xfrm>
            <a:prstGeom prst="rect">
              <a:avLst/>
            </a:prstGeom>
            <a:ln w="6350">
              <a:solidFill>
                <a:schemeClr val="accent1"/>
              </a:solidFill>
            </a:ln>
          </p:spPr>
        </p:pic>
        <p:sp>
          <p:nvSpPr>
            <p:cNvPr id="29" name="Oval 28"/>
            <p:cNvSpPr/>
            <p:nvPr/>
          </p:nvSpPr>
          <p:spPr>
            <a:xfrm>
              <a:off x="2544955" y="4647089"/>
              <a:ext cx="1631273" cy="1111281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202" y="5203024"/>
            <a:ext cx="1438781" cy="1383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89215" y="1310732"/>
            <a:ext cx="15970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1.  Click on the link, 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"Activate Okta Account"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to set up your account.  This link expires 7 days from receipt. Take note of your username in the email. If you don’t receive an email or the link doesn’t work, contact the DARPA Help Desk at </a:t>
            </a:r>
            <a:r>
              <a:rPr lang="en-US" sz="800" u="sng" dirty="0">
                <a:latin typeface="Segoe UI" pitchFamily="34" charset="0"/>
                <a:ea typeface="Segoe UI" pitchFamily="34" charset="0"/>
                <a:cs typeface="Segoe UI" pitchFamily="34" charset="0"/>
              </a:rPr>
              <a:t>action@darpa.mil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0439" y="4138604"/>
            <a:ext cx="1597025" cy="227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1.  Type and repeat your new password.  It must be a minimum of 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15 characters and include a lowercase letter, an uppercase letter, a number, a symbol and no parts of your username, first or last names. Your password cannot be any of your last 10 passwords.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2.  Click on the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down arrow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”, select a password reset question or create your own question and type your answer.  It must be at least 4 characters.</a:t>
            </a:r>
            <a:endParaRPr lang="en-US" sz="8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55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Skype for Business Quick Start Guide—Audio Setup and Making Calls—pages 2 and 3</a:t>
            </a:r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Pages 2 and 3</a:t>
            </a:r>
          </a:p>
        </p:txBody>
      </p:sp>
      <p:cxnSp>
        <p:nvCxnSpPr>
          <p:cNvPr id="14" name="Straight Connector 13" descr="&quot;&quot;" title="&quot;&quot;"/>
          <p:cNvCxnSpPr/>
          <p:nvPr/>
        </p:nvCxnSpPr>
        <p:spPr>
          <a:xfrm>
            <a:off x="4572000" y="76200"/>
            <a:ext cx="0" cy="67056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43293" y="451012"/>
            <a:ext cx="130450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3.  Click on a picture to choose your security image.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4.  Click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Create my Account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40535"/>
            <a:ext cx="2872908" cy="28370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28" name="Rectangle 27"/>
          <p:cNvSpPr/>
          <p:nvPr/>
        </p:nvSpPr>
        <p:spPr>
          <a:xfrm>
            <a:off x="143294" y="3520015"/>
            <a:ext cx="1568148" cy="1054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5.  Click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Send Email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to receive a code in your email.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Note: 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The email will be sent to the email address  used to set up your Login.darpa.mil account. 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4953000" y="609601"/>
            <a:ext cx="3637967" cy="2285999"/>
            <a:chOff x="5427395" y="4040437"/>
            <a:chExt cx="3485567" cy="2207963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27395" y="4040437"/>
              <a:ext cx="3485567" cy="2207963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1" name="Oval 10"/>
            <p:cNvSpPr/>
            <p:nvPr/>
          </p:nvSpPr>
          <p:spPr>
            <a:xfrm>
              <a:off x="6522478" y="4953000"/>
              <a:ext cx="1295400" cy="3810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810334" y="3373802"/>
            <a:ext cx="2662774" cy="3066827"/>
            <a:chOff x="6250188" y="304799"/>
            <a:chExt cx="2662774" cy="3066827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50188" y="304799"/>
              <a:ext cx="2662774" cy="3066827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20" name="Oval 19"/>
            <p:cNvSpPr/>
            <p:nvPr/>
          </p:nvSpPr>
          <p:spPr>
            <a:xfrm>
              <a:off x="6293074" y="1905000"/>
              <a:ext cx="1295400" cy="3810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Rectangle 5"/>
          <p:cNvSpPr/>
          <p:nvPr/>
        </p:nvSpPr>
        <p:spPr>
          <a:xfrm>
            <a:off x="4777228" y="276741"/>
            <a:ext cx="35052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6.  Open the email from “Okta” for the 6-digit setup verification code</a:t>
            </a:r>
            <a:endParaRPr lang="en-US" sz="800" dirty="0"/>
          </a:p>
        </p:txBody>
      </p:sp>
      <p:sp>
        <p:nvSpPr>
          <p:cNvPr id="17" name="Rectangle 16"/>
          <p:cNvSpPr/>
          <p:nvPr/>
        </p:nvSpPr>
        <p:spPr>
          <a:xfrm>
            <a:off x="4777227" y="3613752"/>
            <a:ext cx="1206031" cy="1500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7.  Type in the 6 digit code you received in your email. Click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Verify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”.  Your email MFA is now set up.  You will be prompted next to set up up your Okta Verify MFA. </a:t>
            </a:r>
          </a:p>
          <a:p>
            <a:pPr marL="228600" indent="-228600" algn="just"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8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6066207" y="3366067"/>
            <a:ext cx="2514600" cy="3044082"/>
            <a:chOff x="2148108" y="106832"/>
            <a:chExt cx="1970030" cy="2387327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48108" y="106832"/>
              <a:ext cx="1970030" cy="2387327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22" name="Oval 21"/>
            <p:cNvSpPr/>
            <p:nvPr/>
          </p:nvSpPr>
          <p:spPr>
            <a:xfrm>
              <a:off x="2312071" y="1803494"/>
              <a:ext cx="1635819" cy="5334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42810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Skype for Business Quick Start Guide—Audio Setup and Making Calls—pages 1 and 4</a:t>
            </a:r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Pages 1 and 4</a:t>
            </a:r>
          </a:p>
        </p:txBody>
      </p:sp>
      <p:cxnSp>
        <p:nvCxnSpPr>
          <p:cNvPr id="14" name="Straight Connector 13" descr="&quot;&quot;" title="&quot;&quot;"/>
          <p:cNvCxnSpPr/>
          <p:nvPr/>
        </p:nvCxnSpPr>
        <p:spPr>
          <a:xfrm>
            <a:off x="3372" y="8935"/>
            <a:ext cx="0" cy="67056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6031" y="892377"/>
            <a:ext cx="1704032" cy="1885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You must complete your second multi-factor authentication (MFA).  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Note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: You must have Okta Verify installed on your smart phone prior to this setup.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1.  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“Okta Verify”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will be highlighted. Click 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“Configure next factor”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to set up your Okta Verify registration.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2047619" y="4082072"/>
            <a:ext cx="2307629" cy="2209799"/>
            <a:chOff x="6239839" y="304801"/>
            <a:chExt cx="2307629" cy="220979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39839" y="304801"/>
              <a:ext cx="2307629" cy="220979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23" name="Oval 22"/>
            <p:cNvSpPr/>
            <p:nvPr/>
          </p:nvSpPr>
          <p:spPr>
            <a:xfrm>
              <a:off x="6330839" y="1630110"/>
              <a:ext cx="1371600" cy="65589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372124" y="1547714"/>
            <a:ext cx="1695676" cy="2534358"/>
            <a:chOff x="4859758" y="4513539"/>
            <a:chExt cx="1695676" cy="253435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94040" y="4513539"/>
              <a:ext cx="1391989" cy="2475886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24" name="Oval 23"/>
            <p:cNvSpPr/>
            <p:nvPr/>
          </p:nvSpPr>
          <p:spPr>
            <a:xfrm>
              <a:off x="4859758" y="6599738"/>
              <a:ext cx="1695676" cy="448159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26513" y="4210933"/>
            <a:ext cx="1980026" cy="2418924"/>
            <a:chOff x="6959232" y="4281743"/>
            <a:chExt cx="1980026" cy="2418924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59232" y="4281743"/>
              <a:ext cx="1980026" cy="2418924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26" name="Oval 25"/>
            <p:cNvSpPr/>
            <p:nvPr/>
          </p:nvSpPr>
          <p:spPr>
            <a:xfrm>
              <a:off x="7871233" y="6174192"/>
              <a:ext cx="1026209" cy="296147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059468" y="893322"/>
            <a:ext cx="2283932" cy="2596320"/>
            <a:chOff x="1899250" y="5215612"/>
            <a:chExt cx="2624950" cy="269731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99250" y="5215612"/>
              <a:ext cx="2624950" cy="2697317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20" name="Oval 19"/>
            <p:cNvSpPr/>
            <p:nvPr/>
          </p:nvSpPr>
          <p:spPr>
            <a:xfrm>
              <a:off x="1941880" y="6102143"/>
              <a:ext cx="2509006" cy="762282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5" name="Straight Connector 24" descr="&quot;&quot;" title="&quot;&quot;"/>
          <p:cNvCxnSpPr/>
          <p:nvPr/>
        </p:nvCxnSpPr>
        <p:spPr>
          <a:xfrm>
            <a:off x="4572000" y="76200"/>
            <a:ext cx="0" cy="67056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86031" y="4034135"/>
            <a:ext cx="17951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2.  Select your device type. Click on the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 “Apple Icon (or Android)”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, as applicable.</a:t>
            </a:r>
            <a:endParaRPr lang="en-US" sz="800" dirty="0"/>
          </a:p>
        </p:txBody>
      </p:sp>
      <p:sp>
        <p:nvSpPr>
          <p:cNvPr id="15" name="Rectangle 14"/>
          <p:cNvSpPr/>
          <p:nvPr/>
        </p:nvSpPr>
        <p:spPr>
          <a:xfrm>
            <a:off x="4654949" y="3519438"/>
            <a:ext cx="2639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4. Using your smart phone, open the previously downloaded Okta Verify App and click 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“Add Account”</a:t>
            </a:r>
            <a:endParaRPr lang="en-US" sz="800" dirty="0"/>
          </a:p>
        </p:txBody>
      </p:sp>
      <p:sp>
        <p:nvSpPr>
          <p:cNvPr id="16" name="Rectangle 15"/>
          <p:cNvSpPr/>
          <p:nvPr/>
        </p:nvSpPr>
        <p:spPr>
          <a:xfrm>
            <a:off x="4661299" y="4343400"/>
            <a:ext cx="21205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5.  Using your smart phone</a:t>
            </a:r>
            <a:r>
              <a:rPr lang="en-US" sz="800" u="sng" dirty="0">
                <a:latin typeface="Segoe UI" pitchFamily="34" charset="0"/>
                <a:ea typeface="Segoe UI" pitchFamily="34" charset="0"/>
                <a:cs typeface="Segoe UI" pitchFamily="34" charset="0"/>
              </a:rPr>
              <a:t>,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click on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allow camera use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and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scan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the  QR code on the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Setup Okta Verify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screen. Your Okta Verify MFA setup is now complete.</a:t>
            </a:r>
          </a:p>
          <a:p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/>
            </a:r>
            <a:b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Note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: If camera use is not allowed, click on the link 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“Can’t Scan?” 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to use the alternate ways to set up Okta Verify.</a:t>
            </a:r>
            <a:endParaRPr lang="en-US" sz="800" dirty="0"/>
          </a:p>
        </p:txBody>
      </p:sp>
      <p:sp>
        <p:nvSpPr>
          <p:cNvPr id="27" name="Rectangle 26"/>
          <p:cNvSpPr/>
          <p:nvPr/>
        </p:nvSpPr>
        <p:spPr>
          <a:xfrm>
            <a:off x="186031" y="383548"/>
            <a:ext cx="4401778" cy="496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Set Up Okta Verify MFA </a:t>
            </a:r>
          </a:p>
          <a:p>
            <a:pPr>
              <a:lnSpc>
                <a:spcPct val="125000"/>
              </a:lnSpc>
              <a:defRPr/>
            </a:pPr>
            <a:r>
              <a:rPr lang="en-US" sz="900" dirty="0">
                <a:latin typeface="Segoe UI" pitchFamily="34" charset="0"/>
                <a:ea typeface="Segoe UI" pitchFamily="34" charset="0"/>
                <a:cs typeface="Segoe UI" pitchFamily="34" charset="0"/>
              </a:rPr>
              <a:t>(One-time SMS Push Registration)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1299" y="383548"/>
            <a:ext cx="263939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3.  Select 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“Next” 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to continue.</a:t>
            </a:r>
            <a:endParaRPr lang="en-US" sz="800" dirty="0"/>
          </a:p>
        </p:txBody>
      </p:sp>
      <p:grpSp>
        <p:nvGrpSpPr>
          <p:cNvPr id="33" name="Group 32"/>
          <p:cNvGrpSpPr/>
          <p:nvPr/>
        </p:nvGrpSpPr>
        <p:grpSpPr>
          <a:xfrm>
            <a:off x="5605195" y="609600"/>
            <a:ext cx="1710005" cy="2544737"/>
            <a:chOff x="5605195" y="609600"/>
            <a:chExt cx="1710005" cy="2544737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05195" y="609600"/>
              <a:ext cx="1710005" cy="2544737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45865" y="2558271"/>
              <a:ext cx="1648475" cy="4757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0407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Skype for Business Quick Start Guide—Audio Setup and Making Calls—pages 1 and 4</a:t>
            </a:r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Pages 1 and 4</a:t>
            </a:r>
          </a:p>
        </p:txBody>
      </p:sp>
      <p:cxnSp>
        <p:nvCxnSpPr>
          <p:cNvPr id="14" name="Straight Connector 13" descr="&quot;&quot;" title="&quot;&quot;"/>
          <p:cNvCxnSpPr/>
          <p:nvPr/>
        </p:nvCxnSpPr>
        <p:spPr>
          <a:xfrm>
            <a:off x="3372" y="8935"/>
            <a:ext cx="0" cy="67056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15485" y="1371600"/>
            <a:ext cx="230246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1200" dirty="0">
                <a:latin typeface="Segoe UI" pitchFamily="34" charset="0"/>
                <a:ea typeface="Segoe UI" pitchFamily="34" charset="0"/>
                <a:cs typeface="Segoe UI" pitchFamily="34" charset="0"/>
              </a:rPr>
              <a:t>Okta Verify Setup using SMS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1. Click on the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Down arrow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to switch between SMS and email verification and select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SMS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</a:t>
            </a:r>
            <a:b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2. Enter your smart phone number and click 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“Send”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.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b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/>
            </a:r>
            <a:b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endParaRPr lang="en-US" sz="8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54777" y="914400"/>
            <a:ext cx="184525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1. Click on the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Down arrow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to switch between SMS and email verification and select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Email”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endParaRPr lang="en-US" sz="8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2. Click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Send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from your smart phone.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5682756" y="4527280"/>
            <a:ext cx="3118081" cy="1949720"/>
            <a:chOff x="5331315" y="4191000"/>
            <a:chExt cx="3523802" cy="2203116"/>
          </a:xfrm>
        </p:grpSpPr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1315" y="4191000"/>
              <a:ext cx="3523802" cy="2203116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35" name="Oval 34"/>
            <p:cNvSpPr/>
            <p:nvPr/>
          </p:nvSpPr>
          <p:spPr>
            <a:xfrm>
              <a:off x="6218378" y="4987758"/>
              <a:ext cx="1782622" cy="6096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730061" y="1371600"/>
            <a:ext cx="1537139" cy="2362200"/>
            <a:chOff x="2286001" y="685800"/>
            <a:chExt cx="1922260" cy="3124200"/>
          </a:xfrm>
        </p:grpSpPr>
        <p:grpSp>
          <p:nvGrpSpPr>
            <p:cNvPr id="26" name="Group 25"/>
            <p:cNvGrpSpPr/>
            <p:nvPr/>
          </p:nvGrpSpPr>
          <p:grpSpPr>
            <a:xfrm>
              <a:off x="2286001" y="685800"/>
              <a:ext cx="1922260" cy="3124200"/>
              <a:chOff x="1702306" y="551986"/>
              <a:chExt cx="2227061" cy="3505200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2306" y="551986"/>
                <a:ext cx="2227061" cy="3505200"/>
              </a:xfrm>
              <a:prstGeom prst="rect">
                <a:avLst/>
              </a:prstGeom>
              <a:ln w="6350">
                <a:solidFill>
                  <a:schemeClr val="tx1"/>
                </a:solidFill>
              </a:ln>
            </p:spPr>
          </p:pic>
          <p:sp>
            <p:nvSpPr>
              <p:cNvPr id="25" name="Oval 24"/>
              <p:cNvSpPr/>
              <p:nvPr/>
            </p:nvSpPr>
            <p:spPr>
              <a:xfrm>
                <a:off x="3575893" y="2176347"/>
                <a:ext cx="322061" cy="304800"/>
              </a:xfrm>
              <a:prstGeom prst="ellipse">
                <a:avLst/>
              </a:prstGeom>
              <a:noFill/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9" name="Oval 18"/>
            <p:cNvSpPr/>
            <p:nvPr/>
          </p:nvSpPr>
          <p:spPr>
            <a:xfrm>
              <a:off x="2323773" y="3188369"/>
              <a:ext cx="1853412" cy="4572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/>
          <p:cNvSpPr/>
          <p:nvPr/>
        </p:nvSpPr>
        <p:spPr>
          <a:xfrm>
            <a:off x="4654777" y="4168434"/>
            <a:ext cx="3221349" cy="231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3. Open the email and click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Activate Okta Verify Push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”.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797101" y="3914867"/>
            <a:ext cx="1470099" cy="2743201"/>
            <a:chOff x="2474706" y="3355053"/>
            <a:chExt cx="1609476" cy="3484362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4706" y="3355053"/>
              <a:ext cx="1609476" cy="3484362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21" name="Oval 20"/>
            <p:cNvSpPr/>
            <p:nvPr/>
          </p:nvSpPr>
          <p:spPr>
            <a:xfrm>
              <a:off x="2489988" y="3936385"/>
              <a:ext cx="1243812" cy="760117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561590" y="914400"/>
            <a:ext cx="2239247" cy="2895600"/>
            <a:chOff x="6517634" y="1143000"/>
            <a:chExt cx="2239247" cy="2895600"/>
          </a:xfrm>
        </p:grpSpPr>
        <p:grpSp>
          <p:nvGrpSpPr>
            <p:cNvPr id="32" name="Group 31"/>
            <p:cNvGrpSpPr/>
            <p:nvPr/>
          </p:nvGrpSpPr>
          <p:grpSpPr>
            <a:xfrm>
              <a:off x="6517634" y="1143000"/>
              <a:ext cx="2239247" cy="2895600"/>
              <a:chOff x="6120613" y="408948"/>
              <a:chExt cx="2642387" cy="3354683"/>
            </a:xfrm>
          </p:grpSpPr>
          <p:pic>
            <p:nvPicPr>
              <p:cNvPr id="30" name="Picture 2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20613" y="408948"/>
                <a:ext cx="2642387" cy="3354683"/>
              </a:xfrm>
              <a:prstGeom prst="rect">
                <a:avLst/>
              </a:prstGeom>
              <a:ln w="6350">
                <a:solidFill>
                  <a:schemeClr val="tx1"/>
                </a:solidFill>
              </a:ln>
            </p:spPr>
          </p:pic>
          <p:sp>
            <p:nvSpPr>
              <p:cNvPr id="34" name="Oval 33"/>
              <p:cNvSpPr/>
              <p:nvPr/>
            </p:nvSpPr>
            <p:spPr>
              <a:xfrm>
                <a:off x="6169495" y="2895600"/>
                <a:ext cx="2517305" cy="561348"/>
              </a:xfrm>
              <a:prstGeom prst="ellipse">
                <a:avLst/>
              </a:prstGeom>
              <a:noFill/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4" name="Oval 23"/>
            <p:cNvSpPr/>
            <p:nvPr/>
          </p:nvSpPr>
          <p:spPr>
            <a:xfrm>
              <a:off x="8440143" y="2913088"/>
              <a:ext cx="277983" cy="27167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 descr="&quot;&quot;" title="&quot;&quot;"/>
          <p:cNvCxnSpPr/>
          <p:nvPr/>
        </p:nvCxnSpPr>
        <p:spPr>
          <a:xfrm>
            <a:off x="4572000" y="76200"/>
            <a:ext cx="0" cy="67056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22702" y="4236089"/>
            <a:ext cx="23024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3. Using your smart phone</a:t>
            </a:r>
            <a:r>
              <a:rPr lang="en-US" sz="800" u="sng" dirty="0">
                <a:latin typeface="Segoe UI" pitchFamily="34" charset="0"/>
                <a:ea typeface="Segoe UI" pitchFamily="34" charset="0"/>
                <a:cs typeface="Segoe UI" pitchFamily="34" charset="0"/>
              </a:rPr>
              <a:t>,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open the Okta Verify enroll text and click the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text link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”.  </a:t>
            </a:r>
            <a:endParaRPr lang="en-US" sz="8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2702" y="431014"/>
            <a:ext cx="41206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Alternate Okta Verify Setup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900" dirty="0">
                <a:latin typeface="Segoe UI" pitchFamily="34" charset="0"/>
                <a:ea typeface="Segoe UI" pitchFamily="34" charset="0"/>
                <a:cs typeface="Segoe UI" pitchFamily="34" charset="0"/>
              </a:rPr>
              <a:t>There are two alternate ways to set up Okta push authentication on your smartphone: </a:t>
            </a:r>
            <a:r>
              <a:rPr lang="en-US" sz="9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SMS</a:t>
            </a:r>
            <a:r>
              <a:rPr lang="en-US" sz="9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and </a:t>
            </a:r>
            <a:r>
              <a:rPr lang="en-US" sz="9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Email</a:t>
            </a:r>
            <a:r>
              <a:rPr lang="en-US" sz="900" dirty="0">
                <a:latin typeface="Segoe UI" pitchFamily="34" charset="0"/>
                <a:ea typeface="Segoe UI" pitchFamily="34" charset="0"/>
                <a:cs typeface="Segoe UI" pitchFamily="34" charset="0"/>
              </a:rPr>
              <a:t>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12580" y="431014"/>
            <a:ext cx="2302463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Okta Verify Setup using Email</a:t>
            </a:r>
            <a:endParaRPr lang="en-US" sz="8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92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Skype for Business Quick Start Guide—Audio Setup and Making Calls—pages 1 and 4</a:t>
            </a:r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Pages 1 and 4</a:t>
            </a:r>
          </a:p>
        </p:txBody>
      </p:sp>
      <p:cxnSp>
        <p:nvCxnSpPr>
          <p:cNvPr id="14" name="Straight Connector 13" descr="&quot;&quot;" title="&quot;&quot;"/>
          <p:cNvCxnSpPr/>
          <p:nvPr/>
        </p:nvCxnSpPr>
        <p:spPr>
          <a:xfrm>
            <a:off x="3372" y="8935"/>
            <a:ext cx="0" cy="67056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304704" y="284250"/>
            <a:ext cx="419171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Logging into Login.darpa.mil Using Username, Password, and MFA</a:t>
            </a:r>
            <a:r>
              <a:rPr lang="en-US" sz="1200" dirty="0">
                <a:latin typeface="Segoe UI" pitchFamily="34" charset="0"/>
                <a:ea typeface="Segoe UI" pitchFamily="34" charset="0"/>
                <a:cs typeface="Segoe UI" pitchFamily="34" charset="0"/>
              </a:rPr>
              <a:t>.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1. Go to </a:t>
            </a:r>
            <a:r>
              <a:rPr lang="en-US" sz="800" u="sng" dirty="0">
                <a:latin typeface="Segoe UI" pitchFamily="34" charset="0"/>
                <a:ea typeface="Segoe UI" pitchFamily="34" charset="0"/>
                <a:cs typeface="Segoe UI" pitchFamily="34" charset="0"/>
              </a:rPr>
              <a:t>https://login.darpa.mil 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on your PC or Mac. 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2. Review the DoD notice and consent Banner and  Click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I agree”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.</a:t>
            </a:r>
          </a:p>
        </p:txBody>
      </p:sp>
      <p:cxnSp>
        <p:nvCxnSpPr>
          <p:cNvPr id="22" name="Straight Connector 21" descr="&quot;&quot;" title="&quot;&quot;"/>
          <p:cNvCxnSpPr/>
          <p:nvPr/>
        </p:nvCxnSpPr>
        <p:spPr>
          <a:xfrm>
            <a:off x="4648200" y="533400"/>
            <a:ext cx="0" cy="62480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727421" y="3581400"/>
            <a:ext cx="1593676" cy="1808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6. You can also log on using the Okta native login page:  </a:t>
            </a:r>
            <a:r>
              <a:rPr lang="en-US" sz="8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https://darpa.okta.com/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7. Type in your username and password, and click 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“Sign in”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8. Follow the MFA prompts to complete the login.</a:t>
            </a:r>
            <a:r>
              <a:rPr lang="en-US" sz="8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28600" indent="-228600" algn="just"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 startAt="3"/>
              <a:defRPr/>
            </a:pPr>
            <a:endParaRPr lang="en-US" sz="800" b="1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16303" y="457200"/>
            <a:ext cx="154019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3. Click on the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Username/Password/MFA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tab.  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4. Type in your username and password, and click 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“Sign in”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5. Follow the MFA prompts to complete the login.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896840" y="1981200"/>
            <a:ext cx="2913160" cy="4126352"/>
            <a:chOff x="1370766" y="1607689"/>
            <a:chExt cx="2913160" cy="412635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0766" y="1607689"/>
              <a:ext cx="2913160" cy="407363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7" name="Oval 16"/>
            <p:cNvSpPr/>
            <p:nvPr/>
          </p:nvSpPr>
          <p:spPr>
            <a:xfrm>
              <a:off x="2074979" y="5276841"/>
              <a:ext cx="1447800" cy="4572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443449" y="3581401"/>
            <a:ext cx="2276879" cy="2948194"/>
            <a:chOff x="6443449" y="3581401"/>
            <a:chExt cx="2276879" cy="2948194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3449" y="3581401"/>
              <a:ext cx="2276879" cy="2948194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Oval 18"/>
            <p:cNvSpPr/>
            <p:nvPr/>
          </p:nvSpPr>
          <p:spPr>
            <a:xfrm>
              <a:off x="6776740" y="5274274"/>
              <a:ext cx="1447800" cy="4572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469055" y="457199"/>
            <a:ext cx="2251273" cy="2798565"/>
            <a:chOff x="6469055" y="457199"/>
            <a:chExt cx="2251273" cy="279856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69055" y="457199"/>
              <a:ext cx="2251273" cy="2798565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20" name="Oval 19"/>
            <p:cNvSpPr/>
            <p:nvPr/>
          </p:nvSpPr>
          <p:spPr>
            <a:xfrm>
              <a:off x="7713137" y="661297"/>
              <a:ext cx="810261" cy="3048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7189560" y="2430165"/>
              <a:ext cx="810261" cy="3048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7385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73116" y="384079"/>
            <a:ext cx="2161084" cy="153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Using Email Authentication</a:t>
            </a:r>
            <a:r>
              <a:rPr lang="en-US" sz="1200" dirty="0">
                <a:latin typeface="Segoe UI" pitchFamily="34" charset="0"/>
                <a:ea typeface="Segoe UI" pitchFamily="34" charset="0"/>
                <a:cs typeface="Segoe UI" pitchFamily="34" charset="0"/>
              </a:rPr>
              <a:t>: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endParaRPr lang="en-US" sz="12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1. Click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Email Authentication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and then click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Verify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28600" indent="-228600"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338" y="5263618"/>
            <a:ext cx="1822862" cy="1359526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cxnSp>
        <p:nvCxnSpPr>
          <p:cNvPr id="9" name="Straight Connector 8" descr="&quot;&quot;" title="&quot;&quot;"/>
          <p:cNvCxnSpPr/>
          <p:nvPr/>
        </p:nvCxnSpPr>
        <p:spPr>
          <a:xfrm>
            <a:off x="4625898" y="68994"/>
            <a:ext cx="14072" cy="67052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9473" y="3198308"/>
            <a:ext cx="1737383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Using Okta Verify</a:t>
            </a:r>
            <a:r>
              <a:rPr lang="en-US" sz="1200" dirty="0">
                <a:latin typeface="Segoe UI" pitchFamily="34" charset="0"/>
                <a:ea typeface="Segoe UI" pitchFamily="34" charset="0"/>
                <a:cs typeface="Segoe UI" pitchFamily="34" charset="0"/>
              </a:rPr>
              <a:t>: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endParaRPr lang="en-US" sz="8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1. Select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Okta Verify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</a:t>
            </a:r>
            <a:b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2. Select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Send Push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316" y="384079"/>
            <a:ext cx="2980084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1200" dirty="0">
                <a:latin typeface="Segoe UI" pitchFamily="34" charset="0"/>
                <a:ea typeface="Segoe UI" pitchFamily="34" charset="0"/>
                <a:cs typeface="Segoe UI" pitchFamily="34" charset="0"/>
              </a:rPr>
              <a:t>Selecting the MFA Authentication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You must select a MFA to complete the login.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0316" y="1419344"/>
            <a:ext cx="2243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1. Click on the dropdown menu to display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Okta Verify”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or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 “Email Authentication”.</a:t>
            </a: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368583" y="4364396"/>
            <a:ext cx="1249968" cy="1791232"/>
            <a:chOff x="3480377" y="2192462"/>
            <a:chExt cx="1698780" cy="231007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0377" y="2192462"/>
              <a:ext cx="1698780" cy="2310072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grpSp>
          <p:nvGrpSpPr>
            <p:cNvPr id="27" name="Group 26"/>
            <p:cNvGrpSpPr/>
            <p:nvPr/>
          </p:nvGrpSpPr>
          <p:grpSpPr>
            <a:xfrm>
              <a:off x="3585925" y="3276600"/>
              <a:ext cx="1214675" cy="685800"/>
              <a:chOff x="1754458" y="4057617"/>
              <a:chExt cx="1522141" cy="900152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1754458" y="4057617"/>
                <a:ext cx="1522141" cy="342624"/>
              </a:xfrm>
              <a:prstGeom prst="ellipse">
                <a:avLst/>
              </a:prstGeom>
              <a:noFill/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2293123" y="4615145"/>
                <a:ext cx="944532" cy="342624"/>
              </a:xfrm>
              <a:prstGeom prst="ellipse">
                <a:avLst/>
              </a:prstGeom>
              <a:noFill/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2596462" y="1010710"/>
            <a:ext cx="1722326" cy="2342090"/>
            <a:chOff x="2596462" y="525298"/>
            <a:chExt cx="1722326" cy="2342090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6462" y="525298"/>
              <a:ext cx="1722326" cy="234209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33" name="Oval 32"/>
            <p:cNvSpPr/>
            <p:nvPr/>
          </p:nvSpPr>
          <p:spPr>
            <a:xfrm>
              <a:off x="3631289" y="979712"/>
              <a:ext cx="309862" cy="304613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107292" y="529664"/>
            <a:ext cx="1731908" cy="2355659"/>
            <a:chOff x="3505200" y="2192462"/>
            <a:chExt cx="1698780" cy="2310072"/>
          </a:xfrm>
        </p:grpSpPr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5200" y="2192462"/>
              <a:ext cx="1698780" cy="2310072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40" name="Oval 39"/>
            <p:cNvSpPr/>
            <p:nvPr/>
          </p:nvSpPr>
          <p:spPr>
            <a:xfrm>
              <a:off x="3535168" y="3545910"/>
              <a:ext cx="1214674" cy="261035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 4"/>
          <p:cNvSpPr/>
          <p:nvPr/>
        </p:nvSpPr>
        <p:spPr>
          <a:xfrm>
            <a:off x="4768635" y="3048000"/>
            <a:ext cx="2165565" cy="3578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2. Click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Send Email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3. Retrieve the 6-digit verification code from your email. 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Note: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It could take 1-2 minutes to receive the email.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4. Type the 6-digit code in the 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“Email </a:t>
            </a:r>
            <a:b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Authentication”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and click on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Verify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119" y="6358408"/>
            <a:ext cx="4121842" cy="231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3. Use your smart phone, open the Okta Verify app and click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Yes, It’s Me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984908" y="2980451"/>
            <a:ext cx="1854292" cy="2188039"/>
            <a:chOff x="6934200" y="2980451"/>
            <a:chExt cx="1854292" cy="2188039"/>
          </a:xfrm>
        </p:grpSpPr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7046" y="2980451"/>
              <a:ext cx="1721446" cy="218803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35" name="Oval 34"/>
            <p:cNvSpPr/>
            <p:nvPr/>
          </p:nvSpPr>
          <p:spPr>
            <a:xfrm>
              <a:off x="6934200" y="4265480"/>
              <a:ext cx="993569" cy="346195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7201BF6-832C-4007-89FB-3E903618D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296" y="3796272"/>
            <a:ext cx="1097375" cy="235935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3AEF208-B09B-43B7-B92E-C2BD792CE435}"/>
              </a:ext>
            </a:extLst>
          </p:cNvPr>
          <p:cNvGrpSpPr/>
          <p:nvPr/>
        </p:nvGrpSpPr>
        <p:grpSpPr>
          <a:xfrm>
            <a:off x="2062897" y="3796272"/>
            <a:ext cx="1304942" cy="2365453"/>
            <a:chOff x="2062897" y="3796272"/>
            <a:chExt cx="1304942" cy="236545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F3AD7F4-98B4-4349-9E36-E34153AC7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0464" y="3796272"/>
              <a:ext cx="1097375" cy="2365453"/>
            </a:xfrm>
            <a:prstGeom prst="rect">
              <a:avLst/>
            </a:prstGeom>
          </p:spPr>
        </p:pic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E98712B-E0FE-4305-9912-83CDE8716BD3}"/>
                </a:ext>
              </a:extLst>
            </p:cNvPr>
            <p:cNvSpPr/>
            <p:nvPr/>
          </p:nvSpPr>
          <p:spPr>
            <a:xfrm>
              <a:off x="2062897" y="5746423"/>
              <a:ext cx="832703" cy="346195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34672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863659" y="503751"/>
            <a:ext cx="3962400" cy="231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3. Go to your email and click on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Reset Password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861" y="483623"/>
            <a:ext cx="3993191" cy="300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Resetting your DARPA Extranet Account Password</a:t>
            </a:r>
          </a:p>
        </p:txBody>
      </p:sp>
      <p:sp>
        <p:nvSpPr>
          <p:cNvPr id="2" name="Title 1" hidden="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Skype for Business Quick Start Guide—Audio Setup and Making Calls—pages 2 and 3</a:t>
            </a:r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Pages 2 and 3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645845" y="4753101"/>
            <a:ext cx="2697555" cy="1919287"/>
            <a:chOff x="914400" y="4557713"/>
            <a:chExt cx="2697555" cy="1919287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4557713"/>
              <a:ext cx="2697555" cy="1919287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8" name="Oval 17"/>
            <p:cNvSpPr/>
            <p:nvPr/>
          </p:nvSpPr>
          <p:spPr>
            <a:xfrm>
              <a:off x="1687006" y="5715000"/>
              <a:ext cx="1143000" cy="4572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122348" y="931508"/>
            <a:ext cx="3731469" cy="1706851"/>
            <a:chOff x="4748512" y="381000"/>
            <a:chExt cx="4036269" cy="1990216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48512" y="381000"/>
              <a:ext cx="4036269" cy="1990216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31" name="Oval 30"/>
            <p:cNvSpPr/>
            <p:nvPr/>
          </p:nvSpPr>
          <p:spPr>
            <a:xfrm>
              <a:off x="6610421" y="1600200"/>
              <a:ext cx="1143000" cy="3810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777567" y="2904740"/>
            <a:ext cx="2076250" cy="1459542"/>
            <a:chOff x="6858000" y="2509248"/>
            <a:chExt cx="2076250" cy="1459542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0" y="2509248"/>
              <a:ext cx="2076250" cy="1459542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32" name="Oval 31"/>
            <p:cNvSpPr/>
            <p:nvPr/>
          </p:nvSpPr>
          <p:spPr>
            <a:xfrm>
              <a:off x="6934200" y="2800350"/>
              <a:ext cx="1143000" cy="381000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823366" y="4585514"/>
            <a:ext cx="2030451" cy="2081986"/>
            <a:chOff x="6795608" y="4585514"/>
            <a:chExt cx="2030451" cy="2081986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95608" y="4585514"/>
              <a:ext cx="2030451" cy="2081986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33" name="Oval 32"/>
            <p:cNvSpPr/>
            <p:nvPr/>
          </p:nvSpPr>
          <p:spPr>
            <a:xfrm>
              <a:off x="6866064" y="5517356"/>
              <a:ext cx="1143000" cy="176986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6844859" y="5805520"/>
              <a:ext cx="1143000" cy="176986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/>
            <p:cNvSpPr/>
            <p:nvPr/>
          </p:nvSpPr>
          <p:spPr>
            <a:xfrm>
              <a:off x="7239333" y="6172200"/>
              <a:ext cx="1143000" cy="176986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6" name="Straight Connector 25" descr="&quot;&quot;" title="&quot;&quot;"/>
          <p:cNvCxnSpPr/>
          <p:nvPr/>
        </p:nvCxnSpPr>
        <p:spPr>
          <a:xfrm>
            <a:off x="4648200" y="533400"/>
            <a:ext cx="0" cy="62480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863659" y="2912707"/>
            <a:ext cx="1837354" cy="1962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4. On the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Answer Forgotten Password Challenge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screen, type in your answer and select 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“Reset Password”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. If you don’t know or have not set up up your challenge question, contact the DARPA Help Desk at </a:t>
            </a:r>
            <a:r>
              <a:rPr lang="en-US" sz="800" u="sng" dirty="0">
                <a:latin typeface="Segoe UI" pitchFamily="34" charset="0"/>
                <a:ea typeface="Segoe UI" pitchFamily="34" charset="0"/>
                <a:cs typeface="Segoe UI" pitchFamily="34" charset="0"/>
              </a:rPr>
              <a:t>action@darpa.mil 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or 703 527-5527 (toll free at 1-888-562-6742).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5. Enter your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New password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and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Repeat password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then select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Reset Password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5137" y="4397460"/>
            <a:ext cx="3159448" cy="231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2. Type in  your email or username, and click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Reset via Email”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5137" y="1017473"/>
            <a:ext cx="1667338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Extranet customers can use the password reset link on the login prompt at </a:t>
            </a:r>
            <a:r>
              <a:rPr lang="en-US" sz="8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BAA.darpa.mil 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login.darpa.mil/darpa.okta.com to reset their password.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1. Click on the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Username / Password / MFA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tab, then click </a:t>
            </a:r>
            <a:r>
              <a:rPr lang="en-US" sz="800" dirty="0"/>
              <a:t>“</a:t>
            </a:r>
            <a:r>
              <a:rPr lang="en-US" sz="800" b="1" dirty="0"/>
              <a:t>Need help signing in?</a:t>
            </a:r>
            <a:r>
              <a:rPr lang="en-US" sz="800" dirty="0"/>
              <a:t>” </a:t>
            </a:r>
            <a:br>
              <a:rPr lang="en-US" sz="800" dirty="0"/>
            </a:br>
            <a:r>
              <a:rPr lang="en-US" sz="800" dirty="0"/>
              <a:t>or “</a:t>
            </a:r>
            <a:r>
              <a:rPr lang="en-US" sz="800" b="1" dirty="0"/>
              <a:t>Forgot Password</a:t>
            </a:r>
            <a:r>
              <a:rPr lang="en-US" sz="800" dirty="0"/>
              <a:t>”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122604" y="1017473"/>
            <a:ext cx="2265467" cy="3046391"/>
            <a:chOff x="959257" y="1017473"/>
            <a:chExt cx="2265467" cy="304639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59257" y="1044898"/>
              <a:ext cx="2265467" cy="3018966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0" name="Oval 9"/>
            <p:cNvSpPr/>
            <p:nvPr/>
          </p:nvSpPr>
          <p:spPr>
            <a:xfrm>
              <a:off x="1537716" y="3386342"/>
              <a:ext cx="1108547" cy="340133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2135410" y="1017473"/>
              <a:ext cx="978130" cy="245708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83104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599" y="659704"/>
            <a:ext cx="4062729" cy="823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Creating or Resetting “Forgotten Password Question”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From your Login.darpa.mil/darpa.okta.com portal, you can manage account settings including: Personal Information, Security Image, MFA Reset, Display Language, Change Password, and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Forgotten Password Question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8356" y="2222099"/>
            <a:ext cx="3892973" cy="958899"/>
            <a:chOff x="398356" y="804995"/>
            <a:chExt cx="3892973" cy="95889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734" t="-1474" b="1474"/>
            <a:stretch/>
          </p:blipFill>
          <p:spPr>
            <a:xfrm>
              <a:off x="398356" y="804995"/>
              <a:ext cx="3892973" cy="95889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</p:pic>
        <p:sp>
          <p:nvSpPr>
            <p:cNvPr id="6" name="Oval 5"/>
            <p:cNvSpPr/>
            <p:nvPr/>
          </p:nvSpPr>
          <p:spPr>
            <a:xfrm>
              <a:off x="2912327" y="855150"/>
              <a:ext cx="599486" cy="274277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897950" y="1172383"/>
              <a:ext cx="599486" cy="274277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4834456" y="758717"/>
            <a:ext cx="383412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cs typeface="Segoe UI" pitchFamily="34" charset="0"/>
              </a:rPr>
              <a:t>3. Select a Question from the “</a:t>
            </a:r>
            <a:r>
              <a:rPr lang="en-US" sz="800" b="1" dirty="0">
                <a:latin typeface="Segoe UI" pitchFamily="34" charset="0"/>
                <a:cs typeface="Segoe UI" pitchFamily="34" charset="0"/>
              </a:rPr>
              <a:t>Create your own Security Question</a:t>
            </a:r>
            <a:r>
              <a:rPr lang="en-US" sz="800" dirty="0">
                <a:latin typeface="Segoe UI" pitchFamily="34" charset="0"/>
                <a:cs typeface="Segoe UI" pitchFamily="34" charset="0"/>
              </a:rPr>
              <a:t>” drop down 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cs typeface="Segoe UI" pitchFamily="34" charset="0"/>
              </a:rPr>
              <a:t>4. Enter your security question answer.  Your answer must be least 4 characters.</a:t>
            </a:r>
          </a:p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cs typeface="Segoe UI" pitchFamily="34" charset="0"/>
              </a:rPr>
              <a:t>5. Select “</a:t>
            </a:r>
            <a:r>
              <a:rPr lang="en-US" sz="800" b="1" dirty="0">
                <a:latin typeface="Segoe UI" pitchFamily="34" charset="0"/>
                <a:cs typeface="Segoe UI" pitchFamily="34" charset="0"/>
              </a:rPr>
              <a:t>Save</a:t>
            </a:r>
            <a:r>
              <a:rPr lang="en-US" sz="800" dirty="0">
                <a:latin typeface="Segoe UI" pitchFamily="34" charset="0"/>
                <a:cs typeface="Segoe UI" pitchFamily="34" charset="0"/>
              </a:rPr>
              <a:t>”.  Your Forgotten Password Question has been created/changed.</a:t>
            </a:r>
            <a:r>
              <a:rPr lang="en-US" sz="800" dirty="0"/>
              <a:t/>
            </a:r>
            <a:br>
              <a:rPr lang="en-US" sz="800" dirty="0"/>
            </a:br>
            <a:endParaRPr lang="en-US" sz="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820763" y="4241321"/>
            <a:ext cx="3048157" cy="2070206"/>
            <a:chOff x="913117" y="4374717"/>
            <a:chExt cx="3048157" cy="207020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117" y="4374717"/>
              <a:ext cx="3048157" cy="2070206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1" name="Oval 10"/>
            <p:cNvSpPr/>
            <p:nvPr/>
          </p:nvSpPr>
          <p:spPr>
            <a:xfrm>
              <a:off x="3361788" y="4495800"/>
              <a:ext cx="599486" cy="274277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6" name="Straight Connector 15" descr="&quot;&quot;" title="&quot;&quot;"/>
          <p:cNvCxnSpPr/>
          <p:nvPr/>
        </p:nvCxnSpPr>
        <p:spPr>
          <a:xfrm>
            <a:off x="4648200" y="533400"/>
            <a:ext cx="0" cy="62480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28599" y="1543547"/>
            <a:ext cx="43409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1. When logged into Login.darpa.mil (Okta), Click on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Your user name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  and then select “</a:t>
            </a:r>
            <a:r>
              <a:rPr lang="en-US" sz="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Settings</a:t>
            </a:r>
            <a:r>
              <a:rPr lang="en-US" sz="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”</a:t>
            </a:r>
            <a:endParaRPr lang="en-US" sz="800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28600" y="3811448"/>
            <a:ext cx="347289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800" dirty="0">
                <a:latin typeface="Segoe UI" pitchFamily="34" charset="0"/>
                <a:cs typeface="Segoe UI" pitchFamily="34" charset="0"/>
              </a:rPr>
              <a:t>2. Scroll down to “</a:t>
            </a:r>
            <a:r>
              <a:rPr lang="en-US" sz="800" b="1" dirty="0">
                <a:latin typeface="Segoe UI" pitchFamily="34" charset="0"/>
                <a:cs typeface="Segoe UI" pitchFamily="34" charset="0"/>
              </a:rPr>
              <a:t>Forgotten Password Question</a:t>
            </a:r>
            <a:r>
              <a:rPr lang="en-US" sz="800" dirty="0">
                <a:latin typeface="Segoe UI" pitchFamily="34" charset="0"/>
                <a:cs typeface="Segoe UI" pitchFamily="34" charset="0"/>
              </a:rPr>
              <a:t>” and select “</a:t>
            </a:r>
            <a:r>
              <a:rPr lang="en-US" sz="800" b="1" dirty="0">
                <a:latin typeface="Segoe UI" pitchFamily="34" charset="0"/>
                <a:cs typeface="Segoe UI" pitchFamily="34" charset="0"/>
              </a:rPr>
              <a:t>Edit</a:t>
            </a:r>
            <a:r>
              <a:rPr lang="en-US" sz="800" dirty="0">
                <a:latin typeface="Segoe UI" pitchFamily="34" charset="0"/>
                <a:cs typeface="Segoe UI" pitchFamily="34" charset="0"/>
              </a:rPr>
              <a:t>”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749811" y="1778442"/>
            <a:ext cx="3918774" cy="2805112"/>
            <a:chOff x="4749811" y="1778442"/>
            <a:chExt cx="3918774" cy="2805112"/>
          </a:xfrm>
        </p:grpSpPr>
        <p:grpSp>
          <p:nvGrpSpPr>
            <p:cNvPr id="23" name="Group 22"/>
            <p:cNvGrpSpPr/>
            <p:nvPr/>
          </p:nvGrpSpPr>
          <p:grpSpPr>
            <a:xfrm>
              <a:off x="4749811" y="1778442"/>
              <a:ext cx="3918773" cy="2805112"/>
              <a:chOff x="4749811" y="2863764"/>
              <a:chExt cx="3918773" cy="2805112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13262" y="2863764"/>
                <a:ext cx="3755322" cy="2805112"/>
              </a:xfrm>
              <a:prstGeom prst="rect">
                <a:avLst/>
              </a:prstGeom>
              <a:ln w="6350">
                <a:solidFill>
                  <a:schemeClr val="tx1"/>
                </a:solidFill>
              </a:ln>
            </p:spPr>
          </p:pic>
          <p:sp>
            <p:nvSpPr>
              <p:cNvPr id="21" name="Oval 20"/>
              <p:cNvSpPr/>
              <p:nvPr/>
            </p:nvSpPr>
            <p:spPr>
              <a:xfrm>
                <a:off x="7292196" y="4499542"/>
                <a:ext cx="1219200" cy="288269"/>
              </a:xfrm>
              <a:prstGeom prst="ellipse">
                <a:avLst/>
              </a:prstGeom>
              <a:noFill/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4749811" y="4787811"/>
                <a:ext cx="1219200" cy="288269"/>
              </a:xfrm>
              <a:prstGeom prst="ellipse">
                <a:avLst/>
              </a:prstGeom>
              <a:noFill/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4" name="Oval 23"/>
            <p:cNvSpPr/>
            <p:nvPr/>
          </p:nvSpPr>
          <p:spPr>
            <a:xfrm>
              <a:off x="7848600" y="4267200"/>
              <a:ext cx="819985" cy="292054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7100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97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IntlLangReview xmlns="4873beb7-5857-4685-be1f-d57550cc96cc">false</IntlLangReview>
    <LocLastLocAttemptVersionLookup xmlns="4873beb7-5857-4685-be1f-d57550cc96cc">856206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ppVerPrimary xmlns="4873beb7-5857-4685-be1f-d57550cc96cc" xsi:nil="true"/>
    <AssetStart xmlns="4873beb7-5857-4685-be1f-d57550cc96cc">2012-10-11T07:00:00+00:00</AssetStart>
    <FriendlyTitle xmlns="4873beb7-5857-4685-be1f-d57550cc96cc" xsi:nil="true"/>
    <MarketSpecific xmlns="4873beb7-5857-4685-be1f-d57550cc96cc">false</MarketSpecific>
    <PublishStatusLookup xmlns="4873beb7-5857-4685-be1f-d57550cc96cc">
      <Value>1621751</Value>
    </PublishStatusLookup>
    <APAuthor xmlns="4873beb7-5857-4685-be1f-d57550cc96cc">
      <UserInfo>
        <DisplayName>System Account</DisplayName>
        <AccountId>1749</AccountId>
        <AccountType/>
      </UserInfo>
    </APAuthor>
    <IntlLangReviewer xmlns="4873beb7-5857-4685-be1f-d57550cc96cc" xsi:nil="true"/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>103455868</NumericId>
    <ParentAssetId xmlns="4873beb7-5857-4685-be1f-d57550cc96cc">AF103015613</ParentAssetId>
    <OriginalSourceMarket xmlns="4873beb7-5857-4685-be1f-d57550cc96cc" xsi:nil="true"/>
    <ApprovalStatus xmlns="4873beb7-5857-4685-be1f-d57550cc96cc">InProgress</ApprovalStatus>
    <EditorialTags xmlns="4873beb7-5857-4685-be1f-d57550cc96cc" xsi:nil="true"/>
    <LocComments xmlns="4873beb7-5857-4685-be1f-d57550cc96cc">Intl_Localizable</LocComments>
    <LocRecommendedHandoff xmlns="4873beb7-5857-4685-be1f-d57550cc96cc">FY13HOJun1</LocRecommendedHandoff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NA</AssetType>
    <MachineTranslated xmlns="4873beb7-5857-4685-be1f-d57550cc96cc">false</MachineTranslated>
    <OutputCachingOn xmlns="4873beb7-5857-4685-be1f-d57550cc96cc">false</OutputCachingOn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>t:Tier 1,t:Tier 2,t:Tier 3</LocMarketGroupTiers2>
    <ClipArtFilename xmlns="4873beb7-5857-4685-be1f-d57550cc96cc" xsi:nil="true"/>
    <CSXHash xmlns="4873beb7-5857-4685-be1f-d57550cc96cc" xsi:nil="true"/>
    <DirectSourceMarket xmlns="4873beb7-5857-4685-be1f-d57550cc96cc" xsi:nil="true"/>
    <PlannedPubDate xmlns="4873beb7-5857-4685-be1f-d57550cc96cc">2012-09-28T07:00:00+00:00</PlannedPubDate>
    <Size xmlns="4873beb7-5857-4685-be1f-d57550cc96cc">300kb</Size>
    <CategoryTagsTaxHTField11 xmlns="4873beb7-5857-4685-be1f-d57550cc96cc">
      <Terms xmlns="http://schemas.microsoft.com/office/infopath/2007/PartnerControls"/>
    </CategoryTagsTaxHTField11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imesCloned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pplications xmlns="4873beb7-5857-4685-be1f-d57550cc96cc">
      <Value>1651</Value>
      <Value>1791</Value>
    </Applications>
    <AssetId xmlns="4873beb7-5857-4685-be1f-d57550cc96cc">AF103455868</AssetId>
    <AuthorGroup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OOCacheId xmlns="4873beb7-5857-4685-be1f-d57550cc96cc" xsi:nil="true"/>
    <IsDeleted xmlns="4873beb7-5857-4685-be1f-d57550cc96cc">false</IsDeleted>
    <HiddenCategoryTagsTaxHTField0 xmlns="4873beb7-5857-4685-be1f-d57550cc96cc">
      <Terms xmlns="http://schemas.microsoft.com/office/infopath/2007/PartnerControls"/>
    </HiddenCategoryTagsTaxHTField0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>RTM/RTW</Milestone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PArbitraryFile" ma:contentTypeID="0x0101006EDDDB5EE6D98C44930B742096920B30020100945995BAC74E6347BD6C979F46C6273B" ma:contentTypeVersion="86" ma:contentTypeDescription="Create a new document." ma:contentTypeScope="" ma:versionID="47362dbd0b2e04c99e18350883780ba7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4d33c9699287bf5bb5d1976bc78824fa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Size"/>
                <xsd:element ref="ns2:AcquiredFrom" minOccurs="0"/>
                <xsd:element ref="ns2:UACurrentWords" minOccurs="0"/>
                <xsd:element ref="ns2:ApplicationCode" minOccurs="0"/>
                <xsd:element ref="ns2:ApplicationId" minOccurs="0"/>
                <xsd:element ref="ns2:Applications" minOccurs="0"/>
                <xsd:element ref="ns2:ApprovalLog" minOccurs="0"/>
                <xsd:element ref="ns2:ApprovalStatus" minOccurs="0"/>
                <xsd:element ref="ns2:FeedAppVer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uthorGroup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CategoryTagsTaxHTField11" minOccurs="0"/>
                <xsd:element ref="ns2:ClipArtFilename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FeatureTagsTaxHTField0" minOccurs="0"/>
                <xsd:element ref="ns2:FriendlyTitle" minOccurs="0"/>
                <xsd:element ref="ns2:HandoffToMSDN" minOccurs="0"/>
                <xsd:element ref="ns2:HiddenCategoryTagsTaxHTField0" minOccurs="0"/>
                <xsd:element ref="ns2:InProjectListLookup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LegacyData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NumericId" minOccurs="0"/>
                <xsd:element ref="ns2:NumOfRatingsLookup" minOccurs="0"/>
                <xsd:element ref="ns2:OOCacheId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AppVerPrimary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Size" ma:index="1" ma:displayName="Size of File" ma:default="" ma:internalName="Size" ma:readOnly="false">
      <xsd:simpleType>
        <xsd:restriction base="dms:Text"/>
      </xsd:simpleType>
    </xsd:element>
    <xsd:element name="AcquiredFrom" ma:index="2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3" nillable="true" ma:displayName="Actual Word Count" ma:default="" ma:internalName="UACurrentWords" ma:readOnly="false">
      <xsd:simpleType>
        <xsd:restriction base="dms:Unknown"/>
      </xsd:simpleType>
    </xsd:element>
    <xsd:element name="ApplicationCode" ma:index="4" nillable="true" ma:displayName="Application Code" ma:default="" ma:list="{3B69E247-3408-4B27-BC34-375E2E9451F9}" ma:internalName="ApplicationCode" ma:readOnly="true" ma:showField="AppVerCod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pplicationId" ma:index="5" nillable="true" ma:displayName="Application ID" ma:default="" ma:list="{3B69E247-3408-4B27-BC34-375E2E9451F9}" ma:internalName="ApplicationId" ma:readOnly="true" ma:showField="AssetId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pplications" ma:index="6" nillable="true" ma:displayName="Applications (With Version)" ma:default="" ma:description="Applications this asset is associated with" ma:list="{3B69E247-3408-4B27-BC34-375E2E9451F9}" ma:internalName="Applications" ma:readOnly="false" ma:showField="Titl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pprovalLog" ma:index="7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8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FeedAppVer" ma:index="9" nillable="true" ma:displayName="AppVer" ma:default="" ma:hidden="true" ma:list="{3B69E247-3408-4B27-BC34-375E2E9451F9}" ma:internalName="FeedAppVer" ma:readOnly="true" ma:showField="AppVerForLookup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ssetStart" ma:index="10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11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12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13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4" nillable="true" ma:displayName="Asset Type" ma:default="" ma:internalName="AssetType" ma:readOnly="false">
      <xsd:simpleType>
        <xsd:restriction base="dms:Unknown"/>
      </xsd:simpleType>
    </xsd:element>
    <xsd:element name="APAuthor" ma:index="15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uthorGroup" ma:index="16" nillable="true" ma:displayName="Author Group" ma:default="" ma:internalName="AuthorGroup" ma:readOnly="false">
      <xsd:simpleType>
        <xsd:restriction base="dms:Choice">
          <xsd:enumeration value="AWSUA"/>
          <xsd:enumeration value="ITProUA"/>
          <xsd:enumeration value="PMG"/>
          <xsd:enumeration value="Partner UA"/>
          <xsd:enumeration value="Acquired"/>
          <xsd:enumeration value="BCM"/>
          <xsd:enumeration value="MSC"/>
          <xsd:enumeration value="Intl Site Management"/>
          <xsd:enumeration value="Other"/>
        </xsd:restriction>
      </xsd:simpleType>
    </xsd:element>
    <xsd:element name="AverageRating" ma:index="17" nillable="true" ma:displayName="Average Rating" ma:internalName="AverageRating" ma:readOnly="false">
      <xsd:simpleType>
        <xsd:restriction base="dms:Text"/>
      </xsd:simpleType>
    </xsd:element>
    <xsd:element name="BlockPublish" ma:index="18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9" nillable="true" ma:displayName="Bug Number" ma:default="" ma:internalName="BugNumber" ma:readOnly="false">
      <xsd:simpleType>
        <xsd:restriction base="dms:Text"/>
      </xsd:simpleType>
    </xsd:element>
    <xsd:element name="CampaignTagsTaxHTField0" ma:index="21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ategoryTagsTaxHTField11" ma:index="23" nillable="true" ma:taxonomy="true" ma:internalName="CategoryTagsTaxHTField11" ma:taxonomyFieldName="CategoryTags" ma:displayName="Category Tags" ma:readOnly="false" ma:default="" ma:fieldId="{24797cbb-132b-4ad7-b1f7-0c1bcff0c38a}" ma:taxonomyMulti="true" ma:sspId="8f79753a-75d3-41f5-8ca3-40b843941b4f" ma:termSetId="52678d52-26de-467b-a7b9-d4d1c4c8b24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lipArtFilename" ma:index="24" nillable="true" ma:displayName="Clip Art Name" ma:default="" ma:internalName="ClipArtFilename" ma:readOnly="false">
      <xsd:simpleType>
        <xsd:restriction base="dms:Text"/>
      </xsd:simpleType>
    </xsd:element>
    <xsd:element name="ContentItem" ma:index="25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7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30" nillable="true" ma:displayName="CSX Hash" ma:default="" ma:internalName="CSXHash" ma:readOnly="false">
      <xsd:simpleType>
        <xsd:restriction base="dms:Text"/>
      </xsd:simpleType>
    </xsd:element>
    <xsd:element name="CSXSubmissionMarket" ma:index="31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32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33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4" nillable="true" ma:displayName="Deleted?" ma:default="" ma:internalName="IsDeleted" ma:readOnly="false">
      <xsd:simpleType>
        <xsd:restriction base="dms:Boolean"/>
      </xsd:simpleType>
    </xsd:element>
    <xsd:element name="APDescription" ma:index="35" nillable="true" ma:displayName="Description" ma:default="" ma:internalName="APDescription" ma:readOnly="false">
      <xsd:simpleType>
        <xsd:restriction base="dms:Note"/>
      </xsd:simpleType>
    </xsd:element>
    <xsd:element name="DirectSourceMarket" ma:index="36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7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8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9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40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41" nillable="true" ma:displayName="Editorial Tags" ma:default="" ma:internalName="EditorialTags">
      <xsd:simpleType>
        <xsd:restriction base="dms:Unknown"/>
      </xsd:simpleType>
    </xsd:element>
    <xsd:element name="FeatureTagsTaxHTField0" ma:index="43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riendlyTitle" ma:index="44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HandoffToMSDN" ma:index="45" nillable="true" ma:displayName="Handoff To MSDN Date" ma:default="" ma:internalName="HandoffToMSDN" ma:readOnly="false">
      <xsd:simpleType>
        <xsd:restriction base="dms:DateTime"/>
      </xsd:simpleType>
    </xsd:element>
    <xsd:element name="HiddenCategoryTagsTaxHTField0" ma:index="47" nillable="true" ma:taxonomy="true" ma:internalName="HiddenCategoryTagsTaxHTField0" ma:taxonomyFieldName="HiddenCategoryTags" ma:displayName="Hidden Category" ma:readOnly="false" ma:default="" ma:fieldId="{50ad4411-6c46-40b6-a719-09bfd72caf6b}" ma:taxonomyMulti="true" ma:sspId="8f79753a-75d3-41f5-8ca3-40b843941b4f" ma:termSetId="db61d45c-64f2-4e37-a8e3-d5adce206e5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ProjectListLookup" ma:index="48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nternalTagsTaxHTField0" ma:index="50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51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2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3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4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5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6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7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8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9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60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61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2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3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4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5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6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7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8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egacyData" ma:index="69" nillable="true" ma:displayName="Legacy Data" ma:default="" ma:internalName="LegacyData" ma:readOnly="false">
      <xsd:simpleType>
        <xsd:restriction base="dms:Note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NumericId" ma:index="94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5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6" nillable="true" ma:displayName="OOCacheId" ma:internalName="OOCacheId" ma:readOnly="false">
      <xsd:simpleType>
        <xsd:restriction base="dms:Text"/>
      </xsd:simpleType>
    </xsd:element>
    <xsd:element name="OriginAsset" ma:index="97" nillable="true" ma:displayName="Origin Asset" ma:default="" ma:internalName="OriginAsset" ma:readOnly="false">
      <xsd:simpleType>
        <xsd:restriction base="dms:Text"/>
      </xsd:simpleType>
    </xsd:element>
    <xsd:element name="OriginalRelease" ma:index="98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99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0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1" nillable="true" ma:displayName="Parent Asset Id" ma:default="" ma:internalName="ParentAssetId" ma:readOnly="false">
      <xsd:simpleType>
        <xsd:restriction base="dms:Text"/>
      </xsd:simpleType>
    </xsd:element>
    <xsd:element name="PlannedPubDate" ma:index="102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3" nillable="true" ma:displayName="Policheck Words" ma:default="" ma:internalName="PolicheckWords" ma:readOnly="false">
      <xsd:simpleType>
        <xsd:restriction base="dms:Text"/>
      </xsd:simpleType>
    </xsd:element>
    <xsd:element name="AppVerPrimary" ma:index="104" nillable="true" ma:displayName="Primary Application Version" ma:default="" ma:indexed="true" ma:list="{3B69E247-3408-4B27-BC34-375E2E9451F9}" ma:internalName="AppVerPrimary" ma:showField="Title" ma:web="4873beb7-5857-4685-be1f-d57550cc96cc">
      <xsd:simpleType>
        <xsd:restriction base="dms:Lookup"/>
      </xsd:simpleType>
    </xsd:element>
    <xsd:element name="BusinessGroup" ma:index="105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6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7" nillable="true" ma:displayName="Provider" ma:default="" ma:internalName="Provider" ma:readOnly="false">
      <xsd:simpleType>
        <xsd:restriction base="dms:Unknown"/>
      </xsd:simpleType>
    </xsd:element>
    <xsd:element name="Providers" ma:index="108" nillable="true" ma:displayName="Providers" ma:default="" ma:internalName="Providers">
      <xsd:simpleType>
        <xsd:restriction base="dms:Unknown"/>
      </xsd:simpleType>
    </xsd:element>
    <xsd:element name="PublishStatusLookup" ma:index="109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0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1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2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4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6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7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8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19" nillable="true" ma:displayName="Submitter ID" ma:default="" ma:internalName="SubmitterId" ma:readOnly="false">
      <xsd:simpleType>
        <xsd:restriction base="dms:Text"/>
      </xsd:simpleType>
    </xsd:element>
    <xsd:element name="TaxCatchAll" ma:index="120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1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humbnailAssetId" ma:index="122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3" nillable="true" ma:displayName="Times Cloned" ma:default="" ma:internalName="TimesCloned" ma:readOnly="false">
      <xsd:simpleType>
        <xsd:restriction base="dms:Number"/>
      </xsd:simpleType>
    </xsd:element>
    <xsd:element name="TrustLevel" ma:index="125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6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27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28" nillable="true" ma:displayName="UA Notes" ma:default="" ma:internalName="UANotes" ma:readOnly="false">
      <xsd:simpleType>
        <xsd:restriction base="dms:Note"/>
      </xsd:simpleType>
    </xsd:element>
    <xsd:element name="VoteCount" ma:index="129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6" ma:displayName="Content Type"/>
        <xsd:element ref="dc:title" minOccurs="0" maxOccurs="1" ma:index="12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55E7FB4E-27CC-4001-A9F4-BECB9E209651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4873beb7-5857-4685-be1f-d57550cc96cc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520C805-0DCF-4A13-BCC3-BDCCE6C9FE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1BD87F-56C0-44A2-9063-DBD812914B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1534</Words>
  <Application>Microsoft Office PowerPoint</Application>
  <PresentationFormat>On-screen Show (4:3)</PresentationFormat>
  <Paragraphs>119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</vt:lpstr>
      <vt:lpstr>Segoe UI Semibold</vt:lpstr>
      <vt:lpstr>Office Theme</vt:lpstr>
      <vt:lpstr>Skype for Business Quick Start Guide—Audio Setup and Making Calls—pages 1 and 4</vt:lpstr>
      <vt:lpstr>Skype for Business Quick Start Guide—Audio Setup and Making Calls—pages 2 and 3</vt:lpstr>
      <vt:lpstr>Skype for Business Quick Start Guide—Audio Setup and Making Calls—pages 1 and 4</vt:lpstr>
      <vt:lpstr>Skype for Business Quick Start Guide—Audio Setup and Making Calls—pages 1 and 4</vt:lpstr>
      <vt:lpstr>Skype for Business Quick Start Guide—Audio Setup and Making Calls—pages 1 and 4</vt:lpstr>
      <vt:lpstr>PowerPoint Presentation</vt:lpstr>
      <vt:lpstr>Skype for Business Quick Start Guide—Audio Setup and Making Calls—pages 2 and 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Reference about instant messaging, presence, and contacts</dc:title>
  <dc:creator/>
  <cp:lastModifiedBy/>
  <cp:revision>1</cp:revision>
  <dcterms:created xsi:type="dcterms:W3CDTF">2012-03-30T15:13:48Z</dcterms:created>
  <dcterms:modified xsi:type="dcterms:W3CDTF">2021-08-06T17:54:07Z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0x0101006EDDDB5EE6D98C44930B742096920B30020100945995BAC74E6347BD6C979F46C6273B</vt:lpwstr>
  </property>
  <property fmtid="{D5CDD505-2E9C-101B-9397-08002B2CF9AE}" pid="3" name="_dlc_DocIdItemGuid">
    <vt:lpwstr>044d57a3-7eea-48dd-a4c9-f2f0e23f34f9</vt:lpwstr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ScenarioTags">
    <vt:lpwstr/>
  </property>
  <property fmtid="{D5CDD505-2E9C-101B-9397-08002B2CF9AE}" pid="10" name="CampaignTags">
    <vt:lpwstr/>
  </property>
</Properties>
</file>